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72702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3017336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2276148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4283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9918979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5402417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413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08434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9293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D18BFA-C7D9-FF37-A266-BFA923BAA5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793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3411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65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7EA9DC-D5C8-6170-9A84-CEC2ED290B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media1.svg"/><Relationship Id="rId4" Type="http://schemas.openxmlformats.org/officeDocument/2006/relationships/image" Target="../media/image2.png"/><Relationship Id="rId5" Type="http://schemas.openxmlformats.org/officeDocument/2006/relationships/image" Target="../media/media2.svg"/><Relationship Id="rId6" Type="http://schemas.openxmlformats.org/officeDocument/2006/relationships/image" Target="../media/image3.png"/><Relationship Id="rId7" Type="http://schemas.openxmlformats.org/officeDocument/2006/relationships/image" Target="../media/media3.sv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media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547861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390524" y="369887"/>
            <a:ext cx="8468699" cy="23875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algn="l">
              <a:defRPr sz="4800"/>
            </a:lvl1pPr>
            <a:lvl2pPr algn="l">
              <a:defRPr sz="2800"/>
            </a:lvl2pPr>
            <a:lvl3pPr algn="l">
              <a:defRPr sz="2800"/>
            </a:lvl3pPr>
            <a:lvl4pPr algn="l">
              <a:defRPr sz="2800"/>
            </a:lvl4pPr>
            <a:lvl5pPr algn="l">
              <a:defRPr sz="2800"/>
            </a:lvl5pPr>
            <a:lvl6pPr algn="l">
              <a:defRPr sz="2800"/>
            </a:lvl6pPr>
            <a:lvl7pPr algn="l">
              <a:defRPr sz="2800"/>
            </a:lvl7pPr>
            <a:lvl8pPr algn="l">
              <a:defRPr sz="2800"/>
            </a:lvl8pPr>
            <a:lvl9pPr algn="l">
              <a:defRPr sz="28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44876072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390524" y="2774156"/>
            <a:ext cx="8468699" cy="1245393"/>
          </a:xfrm>
        </p:spPr>
        <p:txBody>
          <a:bodyPr/>
          <a:lstStyle>
            <a:lvl1pPr marL="0" indent="0" algn="l">
              <a:buNone/>
              <a:defRPr sz="2800">
                <a:solidFill>
                  <a:srgbClr val="8DAE10"/>
                </a:solidFill>
              </a:defRPr>
            </a:lvl1pPr>
            <a:lvl2pPr marL="457200" indent="0" algn="l">
              <a:buNone/>
              <a:defRPr sz="2400">
                <a:solidFill>
                  <a:srgbClr val="8DAE10"/>
                </a:solidFill>
              </a:defRPr>
            </a:lvl2pPr>
            <a:lvl3pPr marL="914400" indent="0" algn="l">
              <a:buNone/>
              <a:defRPr sz="2200">
                <a:solidFill>
                  <a:srgbClr val="8DAE10"/>
                </a:solidFill>
              </a:defRPr>
            </a:lvl3pPr>
            <a:lvl4pPr marL="1371600" indent="0" algn="l">
              <a:buNone/>
              <a:defRPr sz="2000">
                <a:solidFill>
                  <a:srgbClr val="8DAE10"/>
                </a:solidFill>
              </a:defRPr>
            </a:lvl4pPr>
            <a:lvl5pPr marL="1828800" indent="0" algn="l">
              <a:buNone/>
              <a:defRPr sz="2000">
                <a:solidFill>
                  <a:srgbClr val="8DAE10"/>
                </a:solidFill>
              </a:defRPr>
            </a:lvl5pPr>
            <a:lvl6pPr marL="2286000" indent="0" algn="l">
              <a:buNone/>
              <a:defRPr sz="2000">
                <a:solidFill>
                  <a:srgbClr val="8DAE10"/>
                </a:solidFill>
              </a:defRPr>
            </a:lvl6pPr>
            <a:lvl7pPr marL="2743200" indent="0" algn="l">
              <a:buNone/>
              <a:defRPr sz="2000">
                <a:solidFill>
                  <a:srgbClr val="8DAE10"/>
                </a:solidFill>
              </a:defRPr>
            </a:lvl7pPr>
            <a:lvl8pPr marL="3200400" indent="0" algn="l">
              <a:buNone/>
              <a:defRPr sz="2000">
                <a:solidFill>
                  <a:srgbClr val="8DAE10"/>
                </a:solidFill>
              </a:defRPr>
            </a:lvl8pPr>
            <a:lvl9pPr marL="3657600" indent="0" algn="l">
              <a:buNone/>
              <a:defRPr sz="2000">
                <a:solidFill>
                  <a:srgbClr val="8DAE10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pic>
        <p:nvPicPr>
          <p:cNvPr id="1851268594" name="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 flipH="0" flipV="0">
            <a:off x="8811562" y="6228746"/>
            <a:ext cx="3133273" cy="290341"/>
          </a:xfrm>
          <a:prstGeom prst="rect">
            <a:avLst/>
          </a:prstGeom>
        </p:spPr>
      </p:pic>
      <p:sp>
        <p:nvSpPr>
          <p:cNvPr id="1254081248" name=""/>
          <p:cNvSpPr txBox="1"/>
          <p:nvPr/>
        </p:nvSpPr>
        <p:spPr bwMode="auto">
          <a:xfrm rot="0" flipH="0" flipV="0">
            <a:off x="390522" y="5695767"/>
            <a:ext cx="7452019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latin typeface="RubFlama Light"/>
                <a:ea typeface="RubFlama Light"/>
                <a:cs typeface="RubFlama Light"/>
              </a:rPr>
              <a:t>www.trusthlt.org</a:t>
            </a:r>
            <a:endParaRPr sz="1600">
              <a:latin typeface="RubFlama Light"/>
              <a:cs typeface="RubFlama Light"/>
            </a:endParaRPr>
          </a:p>
          <a:p>
            <a:pPr>
              <a:defRPr/>
            </a:pPr>
            <a:r>
              <a:rPr sz="1600">
                <a:latin typeface="RubFlama Light"/>
                <a:ea typeface="RubFlama Light"/>
                <a:cs typeface="RubFlama Light"/>
              </a:rPr>
              <a:t>Chair of Trustworthy Human Language Technologies (TrustHLT)</a:t>
            </a:r>
            <a:endParaRPr sz="1600">
              <a:latin typeface="RubFlama Light"/>
              <a:ea typeface="RubFlama Light"/>
              <a:cs typeface="RubFlama Light"/>
            </a:endParaRPr>
          </a:p>
          <a:p>
            <a:pPr>
              <a:defRPr/>
            </a:pPr>
            <a:r>
              <a:rPr sz="1600">
                <a:latin typeface="RubFlama Light"/>
                <a:ea typeface="RubFlama Light"/>
                <a:cs typeface="RubFlama Light"/>
              </a:rPr>
              <a:t>Ruhr University Bochum &amp; Research Center Trustworthy Data Science and Security</a:t>
            </a:r>
            <a:endParaRPr sz="1600">
              <a:latin typeface="RubFlama Light"/>
              <a:cs typeface="RubFlama Light"/>
            </a:endParaRPr>
          </a:p>
        </p:txBody>
      </p:sp>
      <p:pic>
        <p:nvPicPr>
          <p:cNvPr id="712133294" name="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 flipH="0" flipV="0">
            <a:off x="9397716" y="5452062"/>
            <a:ext cx="2547119" cy="487410"/>
          </a:xfrm>
          <a:prstGeom prst="rect">
            <a:avLst/>
          </a:prstGeom>
        </p:spPr>
      </p:pic>
      <p:pic>
        <p:nvPicPr>
          <p:cNvPr id="160745041" name="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 flipH="0" flipV="0">
            <a:off x="9597351" y="4314825"/>
            <a:ext cx="2347483" cy="7715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060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915213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54112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Dr. John Doe: Mid term talk</a:t>
            </a:r>
            <a:endParaRPr/>
          </a:p>
        </p:txBody>
      </p:sp>
      <p:sp>
        <p:nvSpPr>
          <p:cNvPr id="10784346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808279200" name="Content Placeholder 7"/>
          <p:cNvSpPr>
            <a:spLocks noGrp="1"/>
          </p:cNvSpPr>
          <p:nvPr>
            <p:ph sz="quarter"/>
          </p:nvPr>
        </p:nvSpPr>
        <p:spPr bwMode="auto">
          <a:xfrm rot="0" flipH="0" flipV="0">
            <a:off x="8811599" y="991377"/>
            <a:ext cx="3086205" cy="5295122"/>
          </a:xfrm>
        </p:spPr>
        <p:txBody>
          <a:bodyPr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6pPr>
            <a:lvl7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7pPr>
            <a:lvl8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8pPr>
            <a:lvl9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9pPr>
          </a:lstStyle>
          <a:p>
            <a:pPr marL="0" lvl="0" indent="0">
              <a:buFont typeface="Arial"/>
              <a:buNone/>
              <a:defRPr/>
            </a:pPr>
            <a:r>
              <a:rPr/>
              <a:t>Place for references</a:t>
            </a:r>
            <a:endParaRPr/>
          </a:p>
        </p:txBody>
      </p:sp>
      <p:sp>
        <p:nvSpPr>
          <p:cNvPr id="233284481" name=""/>
          <p:cNvSpPr txBox="1"/>
          <p:nvPr/>
        </p:nvSpPr>
        <p:spPr bwMode="auto">
          <a:xfrm rot="0" flipH="0" flipV="0">
            <a:off x="7204059" y="6433682"/>
            <a:ext cx="321508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latin typeface="RubFlama Light"/>
                <a:ea typeface="RubFlama Light"/>
                <a:cs typeface="RubFlama Light"/>
              </a:rPr>
              <a:t>TrustHLT </a:t>
            </a:r>
            <a:r>
              <a:rPr sz="1600">
                <a:latin typeface="RubFlama Light"/>
                <a:ea typeface="RubFlama Light"/>
                <a:cs typeface="RubFlama Light"/>
              </a:rPr>
              <a:t>—</a:t>
            </a:r>
            <a:r>
              <a:rPr sz="1600">
                <a:latin typeface="RubFlama Light"/>
                <a:ea typeface="RubFlama Light"/>
                <a:cs typeface="RubFlama Light"/>
              </a:rPr>
              <a:t> Prof. Dr. Ivan Habernal</a:t>
            </a:r>
            <a:endParaRPr sz="1600">
              <a:latin typeface="RubFlama Light"/>
              <a:cs typeface="RubFlama Light"/>
            </a:endParaRPr>
          </a:p>
        </p:txBody>
      </p:sp>
      <p:pic>
        <p:nvPicPr>
          <p:cNvPr id="2006728940" name="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0481581" y="6418938"/>
            <a:ext cx="1543050" cy="2952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89637" name="Title 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294194" y="306808"/>
            <a:ext cx="11603611" cy="5484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1pPr>
            <a:lvl2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2pPr>
            <a:lvl3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3pPr>
            <a:lvl4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4pPr>
            <a:lvl5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5pPr>
            <a:lvl6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6pPr>
            <a:lvl7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7pPr>
            <a:lvl8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8pPr>
            <a:lvl9pPr>
              <a:defRPr sz="3000" b="1">
                <a:solidFill>
                  <a:srgbClr val="003860"/>
                </a:solidFill>
                <a:latin typeface="RubFlama"/>
                <a:ea typeface="RubFlama"/>
                <a:cs typeface="RubFlama"/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3369329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94194" y="991377"/>
            <a:ext cx="8412630" cy="5295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latin typeface="RubFlama Light"/>
                <a:ea typeface="RubFlama Light"/>
                <a:cs typeface="RubFlama Light"/>
              </a:defRPr>
            </a:lvl1pPr>
            <a:lvl2pPr>
              <a:defRPr sz="2200">
                <a:latin typeface="RubFlama Light"/>
                <a:ea typeface="RubFlama Light"/>
                <a:cs typeface="RubFlama Light"/>
              </a:defRPr>
            </a:lvl2pPr>
            <a:lvl3pPr>
              <a:defRPr sz="1800">
                <a:latin typeface="RubFlama Light"/>
                <a:ea typeface="RubFlama Light"/>
                <a:cs typeface="RubFlama Light"/>
              </a:defRPr>
            </a:lvl3pPr>
            <a:lvl4pPr>
              <a:defRPr sz="1600">
                <a:latin typeface="RubFlama Light"/>
                <a:ea typeface="RubFlama Light"/>
                <a:cs typeface="RubFlama Light"/>
              </a:defRPr>
            </a:lvl4pPr>
            <a:lvl5pPr>
              <a:defRPr sz="1600">
                <a:latin typeface="RubFlama Light"/>
                <a:ea typeface="RubFlama Light"/>
                <a:cs typeface="RubFlama Light"/>
              </a:defRPr>
            </a:lvl5pPr>
            <a:lvl6pPr>
              <a:defRPr sz="1600">
                <a:latin typeface="RubFlama Light"/>
                <a:ea typeface="RubFlama Light"/>
                <a:cs typeface="RubFlama Light"/>
              </a:defRPr>
            </a:lvl6pPr>
            <a:lvl7pPr>
              <a:defRPr sz="1600">
                <a:latin typeface="RubFlama Light"/>
                <a:ea typeface="RubFlama Light"/>
                <a:cs typeface="RubFlama Light"/>
              </a:defRPr>
            </a:lvl7pPr>
            <a:lvl8pPr>
              <a:defRPr sz="1600">
                <a:latin typeface="RubFlama Light"/>
                <a:ea typeface="RubFlama Light"/>
                <a:cs typeface="RubFlama Light"/>
              </a:defRPr>
            </a:lvl8pPr>
            <a:lvl9pPr>
              <a:defRPr sz="1600">
                <a:latin typeface="RubFlama Light"/>
                <a:ea typeface="RubFlama Light"/>
                <a:cs typeface="RubFlama Light"/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</p:txBody>
      </p:sp>
      <p:sp>
        <p:nvSpPr>
          <p:cNvPr id="848752321" name="Footer Placeholder 4"/>
          <p:cNvSpPr>
            <a:spLocks noGrp="1"/>
          </p:cNvSpPr>
          <p:nvPr>
            <p:ph type="ftr" sz="quarter" idx="3"/>
          </p:nvPr>
        </p:nvSpPr>
        <p:spPr bwMode="auto">
          <a:xfrm flipH="0" flipV="0">
            <a:off x="905849" y="6418939"/>
            <a:ext cx="6124574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1pPr>
            <a:lvl2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2pPr>
            <a:lvl3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3pPr>
            <a:lvl4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4pPr>
            <a:lvl5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5pPr>
            <a:lvl6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6pPr>
            <a:lvl7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7pPr>
            <a:lvl8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8pPr>
            <a:lvl9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9pPr>
          </a:lstStyle>
          <a:p>
            <a:pPr>
              <a:defRPr/>
            </a:pPr>
            <a:r>
              <a:rPr/>
              <a:t>Dr. John Doe: Mid term talk</a:t>
            </a:r>
            <a:endParaRPr/>
          </a:p>
        </p:txBody>
      </p:sp>
      <p:sp>
        <p:nvSpPr>
          <p:cNvPr id="177032329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 flipH="0" flipV="0">
            <a:off x="294194" y="6418939"/>
            <a:ext cx="56403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1pPr>
            <a:lvl2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2pPr>
            <a:lvl3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3pPr>
            <a:lvl4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4pPr>
            <a:lvl5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5pPr>
            <a:lvl6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6pPr>
            <a:lvl7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7pPr>
            <a:lvl8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8pPr>
            <a:lvl9pPr algn="l">
              <a:defRPr sz="2200">
                <a:solidFill>
                  <a:schemeClr val="tx1"/>
                </a:solidFill>
                <a:latin typeface="RubFlama Light"/>
                <a:ea typeface="RubFlama Light"/>
                <a:cs typeface="RubFlama Light"/>
              </a:defRPr>
            </a:lvl9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1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73370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390523" y="369886"/>
            <a:ext cx="8468698" cy="2387598"/>
          </a:xfrm>
        </p:spPr>
        <p:txBody>
          <a:bodyPr/>
          <a:lstStyle>
            <a:lvl1pPr algn="l">
              <a:defRPr sz="4800"/>
            </a:lvl1pPr>
            <a:lvl2pPr algn="l">
              <a:defRPr sz="2800"/>
            </a:lvl2pPr>
            <a:lvl3pPr algn="l">
              <a:defRPr sz="2800"/>
            </a:lvl3pPr>
            <a:lvl4pPr algn="l">
              <a:defRPr sz="2800"/>
            </a:lvl4pPr>
            <a:lvl5pPr algn="l">
              <a:defRPr sz="2800"/>
            </a:lvl5pPr>
            <a:lvl6pPr algn="l">
              <a:defRPr sz="2800"/>
            </a:lvl6pPr>
            <a:lvl7pPr algn="l">
              <a:defRPr sz="2800"/>
            </a:lvl7pPr>
            <a:lvl8pPr algn="l">
              <a:defRPr sz="2800"/>
            </a:lvl8pPr>
            <a:lvl9pPr algn="l">
              <a:defRPr sz="2800"/>
            </a:lvl9pPr>
          </a:lstStyle>
          <a:p>
            <a:pPr>
              <a:defRPr/>
            </a:pPr>
            <a:r>
              <a:rPr lang="en-US" sz="4800" b="1" i="0" u="none" strike="noStrike" cap="none" spc="0">
                <a:solidFill>
                  <a:srgbClr val="003860"/>
                </a:solidFill>
                <a:latin typeface="RubFlama"/>
                <a:ea typeface="RubFlama"/>
                <a:cs typeface="RubFlama"/>
              </a:rPr>
              <a:t>Some fancy title of my presentation</a:t>
            </a:r>
            <a:endParaRPr sz="4800"/>
          </a:p>
        </p:txBody>
      </p:sp>
      <p:sp>
        <p:nvSpPr>
          <p:cNvPr id="1097443534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390523" y="2774154"/>
            <a:ext cx="8468698" cy="124539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>
            <a:lvl1pPr marL="0" indent="0" algn="l">
              <a:buNone/>
              <a:defRPr sz="2800">
                <a:solidFill>
                  <a:srgbClr val="8DAE10"/>
                </a:solidFill>
              </a:defRPr>
            </a:lvl1pPr>
            <a:lvl2pPr marL="457200" indent="0" algn="l">
              <a:buNone/>
              <a:defRPr sz="2400">
                <a:solidFill>
                  <a:srgbClr val="8DAE10"/>
                </a:solidFill>
              </a:defRPr>
            </a:lvl2pPr>
            <a:lvl3pPr marL="914400" indent="0" algn="l">
              <a:buNone/>
              <a:defRPr sz="2200">
                <a:solidFill>
                  <a:srgbClr val="8DAE10"/>
                </a:solidFill>
              </a:defRPr>
            </a:lvl3pPr>
            <a:lvl4pPr marL="1371600" indent="0" algn="l">
              <a:buNone/>
              <a:defRPr sz="2000">
                <a:solidFill>
                  <a:srgbClr val="8DAE10"/>
                </a:solidFill>
              </a:defRPr>
            </a:lvl4pPr>
            <a:lvl5pPr marL="1828800" indent="0" algn="l">
              <a:buNone/>
              <a:defRPr sz="2000">
                <a:solidFill>
                  <a:srgbClr val="8DAE10"/>
                </a:solidFill>
              </a:defRPr>
            </a:lvl5pPr>
            <a:lvl6pPr marL="2286000" indent="0" algn="l">
              <a:buNone/>
              <a:defRPr sz="2000">
                <a:solidFill>
                  <a:srgbClr val="8DAE10"/>
                </a:solidFill>
              </a:defRPr>
            </a:lvl6pPr>
            <a:lvl7pPr marL="2743200" indent="0" algn="l">
              <a:buNone/>
              <a:defRPr sz="2000">
                <a:solidFill>
                  <a:srgbClr val="8DAE10"/>
                </a:solidFill>
              </a:defRPr>
            </a:lvl7pPr>
            <a:lvl8pPr marL="3200400" indent="0" algn="l">
              <a:buNone/>
              <a:defRPr sz="2000">
                <a:solidFill>
                  <a:srgbClr val="8DAE10"/>
                </a:solidFill>
              </a:defRPr>
            </a:lvl8pPr>
            <a:lvl9pPr marL="3657600" indent="0" algn="l">
              <a:buNone/>
              <a:defRPr sz="2000">
                <a:solidFill>
                  <a:srgbClr val="8DAE10"/>
                </a:solidFill>
              </a:defRPr>
            </a:lvl9pPr>
          </a:lstStyle>
          <a:p>
            <a:pPr>
              <a:defRPr/>
            </a:pPr>
            <a:r>
              <a:rPr lang="en-US" sz="2800" b="0" i="0" u="none" strike="noStrike" cap="none" spc="0">
                <a:solidFill>
                  <a:srgbClr val="8DAE10"/>
                </a:solidFill>
                <a:latin typeface="RubFlama Light"/>
                <a:ea typeface="RubFlama Light"/>
                <a:cs typeface="RubFlama Light"/>
              </a:rPr>
              <a:t>Dr. John Doe</a:t>
            </a:r>
            <a:endParaRPr lang="en-US" sz="2800" b="0" i="0" u="none" strike="noStrike" cap="none" spc="0">
              <a:solidFill>
                <a:srgbClr val="8DAE10"/>
              </a:solidFill>
              <a:latin typeface="RubFlama Light"/>
              <a:cs typeface="RubFlama Light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8DAE10"/>
                </a:solidFill>
                <a:latin typeface="RubFlama Light"/>
                <a:ea typeface="RubFlama Light"/>
                <a:cs typeface="RubFlama Light"/>
              </a:rPr>
              <a:t>November 29, 2029</a:t>
            </a:r>
            <a:endParaRPr lang="en-US" sz="2800" b="0" i="0" u="none" strike="noStrike" cap="none" spc="0">
              <a:solidFill>
                <a:srgbClr val="8DAE10"/>
              </a:solidFill>
              <a:latin typeface="RubFlama Light"/>
              <a:cs typeface="RubFlama Light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rgbClr val="8DAE10"/>
                </a:solidFill>
                <a:latin typeface="RubFlama Light"/>
                <a:ea typeface="RubFlama Light"/>
                <a:cs typeface="RubFlama Light"/>
              </a:rPr>
              <a:t>ACL conference, Bochum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3426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000" b="1" i="0" u="none" strike="noStrike" cap="none" spc="0">
                <a:solidFill>
                  <a:srgbClr val="003860"/>
                </a:solidFill>
                <a:latin typeface="RubFlama"/>
                <a:ea typeface="RubFlama"/>
                <a:cs typeface="RubFlama"/>
              </a:rPr>
              <a:t>Title of the first slide</a:t>
            </a:r>
            <a:endParaRPr/>
          </a:p>
        </p:txBody>
      </p:sp>
      <p:sp>
        <p:nvSpPr>
          <p:cNvPr id="10168418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RubFlama Light"/>
                <a:ea typeface="RubFlama Light"/>
                <a:cs typeface="RubFlama Light"/>
              </a:rPr>
              <a:t>Some bullet points or similar</a:t>
            </a:r>
            <a:endParaRPr lang="en-US" sz="2400" b="0" i="0" u="none" strike="noStrike" cap="none" spc="0">
              <a:solidFill>
                <a:schemeClr val="tx1"/>
              </a:solidFill>
              <a:latin typeface="RubFlama Light"/>
              <a:cs typeface="RubFlama Light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RubFlama Light"/>
                <a:ea typeface="RubFlama Light"/>
                <a:cs typeface="RubFlama Light"/>
              </a:rPr>
              <a:t>We use the right panel for references (Senge et al., 2022)</a:t>
            </a:r>
            <a:endParaRPr lang="en-US" sz="2400" b="0" i="0" u="none" strike="noStrike" cap="none" spc="0">
              <a:solidFill>
                <a:schemeClr val="tx1"/>
              </a:solidFill>
              <a:latin typeface="RubFlama Light"/>
              <a:cs typeface="RubFlama Light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RubFlama Light"/>
                <a:ea typeface="RubFlama Light"/>
                <a:cs typeface="RubFlama Light"/>
              </a:rPr>
              <a:t>Use the footer for name &amp; title talk, do not change the master slides</a:t>
            </a:r>
            <a:endParaRPr/>
          </a:p>
        </p:txBody>
      </p:sp>
      <p:sp>
        <p:nvSpPr>
          <p:cNvPr id="16717503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Dr. John Doe: Mid term talk</a:t>
            </a:r>
            <a:endParaRPr/>
          </a:p>
        </p:txBody>
      </p:sp>
      <p:sp>
        <p:nvSpPr>
          <p:cNvPr id="19590335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E694E7-1547-8E5D-8459-0C897E88D7B4}" type="slidenum">
              <a:rPr lang="en-US"/>
              <a:t/>
            </a:fld>
            <a:endParaRPr lang="en-US"/>
          </a:p>
        </p:txBody>
      </p:sp>
      <p:sp>
        <p:nvSpPr>
          <p:cNvPr id="726540962" name="Content Placeholder 7"/>
          <p:cNvSpPr>
            <a:spLocks noGrp="1"/>
          </p:cNvSpPr>
          <p:nvPr>
            <p:ph sz="quarter"/>
          </p:nvPr>
        </p:nvSpPr>
        <p:spPr bwMode="auto">
          <a:xfrm rot="0" flipH="0" flipV="0">
            <a:off x="8811598" y="991377"/>
            <a:ext cx="3086204" cy="5295121"/>
          </a:xfrm>
        </p:spPr>
        <p:txBody>
          <a:bodyPr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6pPr>
            <a:lvl7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7pPr>
            <a:lvl8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8pPr>
            <a:lvl9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en-US" sz="1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RubFlama Light"/>
                <a:ea typeface="RubFlama Light"/>
                <a:cs typeface="RubFlama Light"/>
              </a:rPr>
              <a:t>Manuel Senge, Timour Igamberdiev, and Ivan Habernal. 2022. One size does not fit all: Investigating strategies for differentially-private learning across NLP tasks. In Proceedings of the 2022 Conference on Empirical Methods in Natural Language Processing, pages 7340–7353, Abu Dhabi, United Arab Emirates. Association for Computational Linguistics.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modified xsi:type="dcterms:W3CDTF">2026-03-05T14:38:20Z</dcterms:modified>
</cp:coreProperties>
</file>